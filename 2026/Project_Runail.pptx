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프리텐다드" charset="1" panose="02000503000000020004"/>
      <p:regular r:id="rId42"/>
    </p:embeddedFont>
    <p:embeddedFont>
      <p:font typeface="프리텐다드 Bold" charset="1" panose="02000803000000020004"/>
      <p:regular r:id="rId43"/>
    </p:embeddedFont>
    <p:embeddedFont>
      <p:font typeface="프리텐다드 Medium" charset="1" panose="02000603000000020004"/>
      <p:regular r:id="rId44"/>
    </p:embeddedFont>
    <p:embeddedFont>
      <p:font typeface="프리텐다드 Light" charset="1" panose="02000403000000020004"/>
      <p:regular r:id="rId45"/>
    </p:embeddedFont>
    <p:embeddedFont>
      <p:font typeface="프리텐다드 Semi-Bold" charset="1" panose="02000703000000020004"/>
      <p:regular r:id="rId46"/>
    </p:embeddedFont>
    <p:embeddedFont>
      <p:font typeface="Arimo" charset="1" panose="020B060402020202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iserreview.com/blog/upselling-and-cross-selling-statistics/" TargetMode="External" Type="http://schemas.openxmlformats.org/officeDocument/2006/relationships/hyperlink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alecycle.com/blog/cart-abandonment-emails-12-best-practice-tips" TargetMode="External" Type="http://schemas.openxmlformats.org/officeDocument/2006/relationships/hyperlink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alecycle.com/blog/cart-abandonment-emails-12-best-practice-tips" TargetMode="External" Type="http://schemas.openxmlformats.org/officeDocument/2006/relationships/hyperlink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8433" y="-189268"/>
            <a:ext cx="3268199" cy="7739024"/>
            <a:chOff x="0" y="0"/>
            <a:chExt cx="860760" cy="203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60" cy="2038262"/>
            </a:xfrm>
            <a:custGeom>
              <a:avLst/>
              <a:gdLst/>
              <a:ahLst/>
              <a:cxnLst/>
              <a:rect r="r" b="b" t="t" l="l"/>
              <a:pathLst>
                <a:path h="2038262" w="860760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87746" y="6962269"/>
            <a:ext cx="18675746" cy="3324731"/>
            <a:chOff x="0" y="0"/>
            <a:chExt cx="4918715" cy="8756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8715" cy="875649"/>
            </a:xfrm>
            <a:custGeom>
              <a:avLst/>
              <a:gdLst/>
              <a:ahLst/>
              <a:cxnLst/>
              <a:rect r="r" b="b" t="t" l="l"/>
              <a:pathLst>
                <a:path h="875649" w="4918715">
                  <a:moveTo>
                    <a:pt x="0" y="0"/>
                  </a:moveTo>
                  <a:lnTo>
                    <a:pt x="4918715" y="0"/>
                  </a:lnTo>
                  <a:lnTo>
                    <a:pt x="4918715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18715" cy="92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33462" y="8097579"/>
            <a:ext cx="6782" cy="1160693"/>
          </a:xfrm>
          <a:prstGeom prst="line">
            <a:avLst/>
          </a:prstGeom>
          <a:ln cap="flat" w="9525">
            <a:solidFill>
              <a:srgbClr val="F6F6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80004" y="8049954"/>
            <a:ext cx="1485044" cy="43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563" spc="187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0004" y="8828148"/>
            <a:ext cx="1485044" cy="43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563" spc="187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0244" y="3864830"/>
            <a:ext cx="16413693" cy="11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9"/>
              </a:lnSpc>
              <a:spcBef>
                <a:spcPct val="0"/>
              </a:spcBef>
            </a:pPr>
            <a:r>
              <a:rPr lang="en-US" b="true" sz="677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이커머스 행동 데이터를 활용한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244" y="4892990"/>
            <a:ext cx="21390251" cy="116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8"/>
              </a:lnSpc>
              <a:spcBef>
                <a:spcPct val="0"/>
              </a:spcBef>
            </a:pPr>
            <a:r>
              <a:rPr lang="en-US" b="true" sz="6755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매출 하락 요인 진단 및 타깃 프로모션 전략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244" y="3642145"/>
            <a:ext cx="3836759" cy="35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2383" y="2458855"/>
            <a:ext cx="5983252" cy="7922513"/>
            <a:chOff x="0" y="0"/>
            <a:chExt cx="1575836" cy="2086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836" cy="2086588"/>
            </a:xfrm>
            <a:custGeom>
              <a:avLst/>
              <a:gdLst/>
              <a:ahLst/>
              <a:cxnLst/>
              <a:rect r="r" b="b" t="t" l="l"/>
              <a:pathLst>
                <a:path h="2086588" w="1575836">
                  <a:moveTo>
                    <a:pt x="0" y="0"/>
                  </a:moveTo>
                  <a:lnTo>
                    <a:pt x="1575836" y="0"/>
                  </a:lnTo>
                  <a:lnTo>
                    <a:pt x="1575836" y="2086588"/>
                  </a:lnTo>
                  <a:lnTo>
                    <a:pt x="0" y="2086588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5836" cy="213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2858" y="-107527"/>
            <a:ext cx="5983252" cy="2953200"/>
            <a:chOff x="0" y="0"/>
            <a:chExt cx="1575836" cy="7777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5836" cy="777797"/>
            </a:xfrm>
            <a:custGeom>
              <a:avLst/>
              <a:gdLst/>
              <a:ahLst/>
              <a:cxnLst/>
              <a:rect r="r" b="b" t="t" l="l"/>
              <a:pathLst>
                <a:path h="777797" w="1575836">
                  <a:moveTo>
                    <a:pt x="0" y="0"/>
                  </a:moveTo>
                  <a:lnTo>
                    <a:pt x="1575836" y="0"/>
                  </a:lnTo>
                  <a:lnTo>
                    <a:pt x="1575836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75836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405377"/>
            <a:ext cx="132273" cy="814512"/>
            <a:chOff x="0" y="0"/>
            <a:chExt cx="40474" cy="249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74" cy="249233"/>
            </a:xfrm>
            <a:custGeom>
              <a:avLst/>
              <a:gdLst/>
              <a:ahLst/>
              <a:cxnLst/>
              <a:rect r="r" b="b" t="t" l="l"/>
              <a:pathLst>
                <a:path h="249233" w="40474">
                  <a:moveTo>
                    <a:pt x="0" y="0"/>
                  </a:moveTo>
                  <a:lnTo>
                    <a:pt x="40474" y="0"/>
                  </a:lnTo>
                  <a:lnTo>
                    <a:pt x="40474" y="249233"/>
                  </a:lnTo>
                  <a:lnTo>
                    <a:pt x="0" y="249233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474" cy="287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93273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  <a:r>
              <a:rPr lang="en-US" b="true" sz="5699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Contests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6206" y="2845402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데이터셋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87205" y="2849976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37599" y="2849976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문제 정의 &amp; 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78597" y="2854550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46206" y="3939317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  <a:spcBef>
                <a:spcPct val="0"/>
              </a:spcBef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전처리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7205" y="3943891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1092" y="5719385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요약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2090" y="5723959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6206" y="4885986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  <a:spcBef>
                <a:spcPct val="0"/>
              </a:spcBef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해결방안 (OVERVIEW)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7205" y="4890560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46206" y="3369873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DATA</a:t>
            </a: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46206" y="4466757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PRE-PROCESSING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37599" y="3278629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PROBLEM DEFINITION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61092" y="6205340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 strike="noStrike" u="none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SUMMATION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46206" y="5377269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SOLUTION (OVERVIEW)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10804" y="3682378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지표 분해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02090" y="3727560"/>
            <a:ext cx="1408713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05-1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10804" y="4307720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객단가 분석 &amp; 원인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02090" y="4352902"/>
            <a:ext cx="1408713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05-2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10804" y="4939097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전환율 분석 &amp; 원인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02090" y="4986075"/>
            <a:ext cx="1408713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05-3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61092" y="6653015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해결방안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02090" y="6657588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61092" y="7138969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SOLUT</a:t>
            </a: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46206" y="5796369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전제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87205" y="5800942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46206" y="6282323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PREMISE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61092" y="7653319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아쉬웠던 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02090" y="7657893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61092" y="8139273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DRAWBACK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96200" y="3494616"/>
            <a:ext cx="9563100" cy="5763684"/>
            <a:chOff x="0" y="0"/>
            <a:chExt cx="2518677" cy="15180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8676" cy="1518007"/>
            </a:xfrm>
            <a:custGeom>
              <a:avLst/>
              <a:gdLst/>
              <a:ahLst/>
              <a:cxnLst/>
              <a:rect r="r" b="b" t="t" l="l"/>
              <a:pathLst>
                <a:path h="1518007" w="2518676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442494" y="3979365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42494" y="5842653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42494" y="7707648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8411703" y="5444814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442494" y="7308102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389589" y="3494616"/>
            <a:ext cx="7125636" cy="2755866"/>
          </a:xfrm>
          <a:custGeom>
            <a:avLst/>
            <a:gdLst/>
            <a:ahLst/>
            <a:cxnLst/>
            <a:rect r="r" b="b" t="t" l="l"/>
            <a:pathLst>
              <a:path h="2755866" w="7125636">
                <a:moveTo>
                  <a:pt x="0" y="0"/>
                </a:moveTo>
                <a:lnTo>
                  <a:pt x="7125636" y="0"/>
                </a:lnTo>
                <a:lnTo>
                  <a:pt x="7125636" y="2755866"/>
                </a:lnTo>
                <a:lnTo>
                  <a:pt x="0" y="275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999" t="0" r="-4062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1481" y="1253961"/>
            <a:ext cx="439320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11703" y="4438022"/>
            <a:ext cx="79333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중규모 화장품 온라인 쇼핑몰의 5개월 간의 행동 데이터가 포함되어 있습니다.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57139" y="3908432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화장품 쇼핑몰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11703" y="6301310"/>
            <a:ext cx="793331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사용자가</a:t>
            </a: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상품을 구경하고, 장바구니에 넣고, 최종적으로 구매하거나 취소하는 모든 온라인 행동이 시간순으로 담겨 있습니다.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57139" y="5771720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실시간 행동 기록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1703" y="8166305"/>
            <a:ext cx="793331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단순한</a:t>
            </a: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매출 통계가 아니라, 한 명의 소비자가 사이트에 방문해 어떤 과정을 거쳐 지갑을 열고 나가는지 그 흐름을 보여줍니다.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57139" y="7636715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고객의</a:t>
            </a:r>
            <a:r>
              <a:rPr lang="en-US" b="true" sz="240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쇼핑 여정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39272" y="6592775"/>
            <a:ext cx="7735472" cy="10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112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eCommerce Events History in Cosmetics Shop</a:t>
            </a:r>
          </a:p>
          <a:p>
            <a:pPr algn="ctr">
              <a:lnSpc>
                <a:spcPts val="2957"/>
              </a:lnSpc>
              <a:spcBef>
                <a:spcPct val="0"/>
              </a:spcBef>
            </a:pPr>
            <a:r>
              <a:rPr lang="en-US" sz="2112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https://www.kaggle.com/datasets/mkechinov/ecommerce-events-history-in-cosmetics-shop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4687" y="3841967"/>
            <a:ext cx="6225296" cy="4296573"/>
          </a:xfrm>
          <a:custGeom>
            <a:avLst/>
            <a:gdLst/>
            <a:ahLst/>
            <a:cxnLst/>
            <a:rect r="r" b="b" t="t" l="l"/>
            <a:pathLst>
              <a:path h="4296573" w="6225296">
                <a:moveTo>
                  <a:pt x="0" y="0"/>
                </a:moveTo>
                <a:lnTo>
                  <a:pt x="6225295" y="0"/>
                </a:lnTo>
                <a:lnTo>
                  <a:pt x="6225295" y="4296573"/>
                </a:lnTo>
                <a:lnTo>
                  <a:pt x="0" y="4296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E-PROCESSING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481" y="1253961"/>
            <a:ext cx="479239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전처리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96200" y="3494616"/>
            <a:ext cx="9563100" cy="5763684"/>
            <a:chOff x="0" y="0"/>
            <a:chExt cx="2518677" cy="15180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18676" cy="1518007"/>
            </a:xfrm>
            <a:custGeom>
              <a:avLst/>
              <a:gdLst/>
              <a:ahLst/>
              <a:cxnLst/>
              <a:rect r="r" b="b" t="t" l="l"/>
              <a:pathLst>
                <a:path h="1518007" w="2518676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442494" y="7762751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42494" y="5842653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42494" y="3969840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8411703" y="5444814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442494" y="7308102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411703" y="8221407"/>
            <a:ext cx="79333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집계의 정합성을 위해 오류 데이터인 음수(-) 값만 제거했습니다.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57139" y="7691817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price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11703" y="6301310"/>
            <a:ext cx="79333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누락된 값이 존재해 브랜드 순위 계산 시 무시하고 계산하였습니다.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57139" y="5771720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brand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1703" y="4428497"/>
            <a:ext cx="793331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카테고리가 없어도 매출은 발생한 것이므로 지우지 않고 그대로 유지했습니다.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98%의 데이터가 누락되어있어 활용엔 한계가 있습니다.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57139" y="3898907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category_code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1161213" y="6569916"/>
            <a:ext cx="642372" cy="0"/>
          </a:xfrm>
          <a:prstGeom prst="line">
            <a:avLst/>
          </a:prstGeom>
          <a:ln cap="flat" w="38100">
            <a:solidFill>
              <a:srgbClr val="2A59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92603" y="7088707"/>
            <a:ext cx="518044" cy="0"/>
          </a:xfrm>
          <a:prstGeom prst="line">
            <a:avLst/>
          </a:prstGeom>
          <a:ln cap="flat" w="38100">
            <a:solidFill>
              <a:srgbClr val="2A59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192603" y="6111683"/>
            <a:ext cx="1573693" cy="0"/>
          </a:xfrm>
          <a:prstGeom prst="line">
            <a:avLst/>
          </a:prstGeom>
          <a:ln cap="flat" w="38100">
            <a:solidFill>
              <a:srgbClr val="2A59C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481" y="1253961"/>
            <a:ext cx="872399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해결방</a:t>
            </a:r>
            <a:r>
              <a:rPr lang="en-US" b="true" sz="5699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안 (overview)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7803" y="4692421"/>
            <a:ext cx="7418523" cy="4565879"/>
            <a:chOff x="0" y="0"/>
            <a:chExt cx="1953850" cy="1202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3850" cy="1202536"/>
            </a:xfrm>
            <a:custGeom>
              <a:avLst/>
              <a:gdLst/>
              <a:ahLst/>
              <a:cxnLst/>
              <a:rect r="r" b="b" t="t" l="l"/>
              <a:pathLst>
                <a:path h="1202536" w="1953850">
                  <a:moveTo>
                    <a:pt x="0" y="0"/>
                  </a:moveTo>
                  <a:lnTo>
                    <a:pt x="1953850" y="0"/>
                  </a:lnTo>
                  <a:lnTo>
                    <a:pt x="1953850" y="1202536"/>
                  </a:lnTo>
                  <a:lnTo>
                    <a:pt x="0" y="1202536"/>
                  </a:lnTo>
                  <a:close/>
                </a:path>
              </a:pathLst>
            </a:custGeom>
            <a:ln w="9525" cap="sq">
              <a:solidFill>
                <a:srgbClr val="28282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3850" cy="1250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72650" y="4692421"/>
            <a:ext cx="9367548" cy="4565879"/>
            <a:chOff x="0" y="0"/>
            <a:chExt cx="2467173" cy="12025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7173" cy="1202536"/>
            </a:xfrm>
            <a:custGeom>
              <a:avLst/>
              <a:gdLst/>
              <a:ahLst/>
              <a:cxnLst/>
              <a:rect r="r" b="b" t="t" l="l"/>
              <a:pathLst>
                <a:path h="1202536" w="2467173">
                  <a:moveTo>
                    <a:pt x="0" y="0"/>
                  </a:moveTo>
                  <a:lnTo>
                    <a:pt x="2467173" y="0"/>
                  </a:lnTo>
                  <a:lnTo>
                    <a:pt x="2467173" y="1202536"/>
                  </a:lnTo>
                  <a:lnTo>
                    <a:pt x="0" y="1202536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467173" cy="1250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9453" y="4314031"/>
            <a:ext cx="4518074" cy="756779"/>
            <a:chOff x="0" y="0"/>
            <a:chExt cx="6024098" cy="100903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7373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Cause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8541" y="4314031"/>
            <a:ext cx="3255765" cy="736542"/>
            <a:chOff x="0" y="0"/>
            <a:chExt cx="4341019" cy="98205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341019" cy="982056"/>
              <a:chOff x="0" y="0"/>
              <a:chExt cx="857485" cy="19398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57485" cy="193986"/>
              </a:xfrm>
              <a:custGeom>
                <a:avLst/>
                <a:gdLst/>
                <a:ahLst/>
                <a:cxnLst/>
                <a:rect r="r" b="b" t="t" l="l"/>
                <a:pathLst>
                  <a:path h="193986" w="857485">
                    <a:moveTo>
                      <a:pt x="0" y="0"/>
                    </a:moveTo>
                    <a:lnTo>
                      <a:pt x="857485" y="0"/>
                    </a:lnTo>
                    <a:lnTo>
                      <a:pt x="857485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57485" cy="241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893711" y="141566"/>
              <a:ext cx="2553597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Solution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1316" y="5499254"/>
            <a:ext cx="6024006" cy="736542"/>
            <a:chOff x="0" y="0"/>
            <a:chExt cx="1586570" cy="1939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2.5~6.5$ 상품의 세션당 장바구니 수량 감소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4271" y="8002670"/>
            <a:ext cx="6081051" cy="736542"/>
            <a:chOff x="0" y="0"/>
            <a:chExt cx="1601594" cy="1939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01594" cy="193986"/>
            </a:xfrm>
            <a:custGeom>
              <a:avLst/>
              <a:gdLst/>
              <a:ahLst/>
              <a:cxnLst/>
              <a:rect r="r" b="b" t="t" l="l"/>
              <a:pathLst>
                <a:path h="193986" w="1601594">
                  <a:moveTo>
                    <a:pt x="0" y="0"/>
                  </a:moveTo>
                  <a:lnTo>
                    <a:pt x="1601594" y="0"/>
                  </a:lnTo>
                  <a:lnTo>
                    <a:pt x="1601594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601594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6.5$+ 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고가 제품군의 장바구니 전환율 하락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1316" y="6700629"/>
            <a:ext cx="6024006" cy="736542"/>
            <a:chOff x="0" y="0"/>
            <a:chExt cx="1586570" cy="1939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5$ 이하 제품의 장바구니 담기 후 골든타임 방치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2818" y="5499254"/>
            <a:ext cx="7834217" cy="736542"/>
            <a:chOff x="0" y="0"/>
            <a:chExt cx="2063333" cy="1939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63333" cy="193986"/>
            </a:xfrm>
            <a:custGeom>
              <a:avLst/>
              <a:gdLst/>
              <a:ahLst/>
              <a:cxnLst/>
              <a:rect r="r" b="b" t="t" l="l"/>
              <a:pathLst>
                <a:path h="193986" w="2063333">
                  <a:moveTo>
                    <a:pt x="0" y="0"/>
                  </a:moveTo>
                  <a:lnTo>
                    <a:pt x="2063333" y="0"/>
                  </a:lnTo>
                  <a:lnTo>
                    <a:pt x="2063333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063333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단순 권유 배너와 10% 할인 혜택 넛지 배너 간 A/B 테스트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32818" y="6684760"/>
            <a:ext cx="7898873" cy="736542"/>
            <a:chOff x="0" y="0"/>
            <a:chExt cx="2080361" cy="193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80362" cy="193986"/>
            </a:xfrm>
            <a:custGeom>
              <a:avLst/>
              <a:gdLst/>
              <a:ahLst/>
              <a:cxnLst/>
              <a:rect r="r" b="b" t="t" l="l"/>
              <a:pathLst>
                <a:path h="193986" w="2080362">
                  <a:moveTo>
                    <a:pt x="0" y="0"/>
                  </a:moveTo>
                  <a:lnTo>
                    <a:pt x="2080362" y="0"/>
                  </a:lnTo>
                  <a:lnTo>
                    <a:pt x="2080362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080361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무대응과 리마인드 알림 간 A/B 테스트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32818" y="7902003"/>
            <a:ext cx="7834217" cy="736542"/>
            <a:chOff x="0" y="0"/>
            <a:chExt cx="2063333" cy="1939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63333" cy="193986"/>
            </a:xfrm>
            <a:custGeom>
              <a:avLst/>
              <a:gdLst/>
              <a:ahLst/>
              <a:cxnLst/>
              <a:rect r="r" b="b" t="t" l="l"/>
              <a:pathLst>
                <a:path h="193986" w="2063333">
                  <a:moveTo>
                    <a:pt x="0" y="0"/>
                  </a:moveTo>
                  <a:lnTo>
                    <a:pt x="2063333" y="0"/>
                  </a:lnTo>
                  <a:lnTo>
                    <a:pt x="2063333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063333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혜택 미제공과 장바구니 방치 24시간 후 10% 타깃 쿠폰 발급 간 A/B 테스트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7981424" y="7081658"/>
            <a:ext cx="444505" cy="175819"/>
            <a:chOff x="0" y="0"/>
            <a:chExt cx="1798056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10800000">
            <a:off x="3846237" y="3922720"/>
            <a:ext cx="444505" cy="175819"/>
            <a:chOff x="0" y="0"/>
            <a:chExt cx="1798056" cy="711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09453" y="2950448"/>
            <a:ext cx="4518074" cy="756779"/>
            <a:chOff x="0" y="0"/>
            <a:chExt cx="6024098" cy="1009039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BCBCB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Problem : 매출 감소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PREM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481" y="1253961"/>
            <a:ext cx="872399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전제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68702" y="5221054"/>
            <a:ext cx="144148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1위 회사인 </a:t>
            </a:r>
            <a:r>
              <a:rPr lang="en-US" b="true" sz="2499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Runail에게 매출 증가 방안에 대한 데이터 분석 요청을 받았다</a:t>
            </a: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 가정하고 시작하도록 하겠습니다.</a:t>
            </a:r>
          </a:p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또한 해당 자료는 코로나 팬데믹 (2020년 3월 11일) 이전의 자료이므로 </a:t>
            </a:r>
            <a:r>
              <a:rPr lang="en-US" b="true" sz="2499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코로나의 영향은 고려하지 않</a:t>
            </a: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도록</a:t>
            </a: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하겠습니다.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80402" y="4829441"/>
            <a:ext cx="14991497" cy="2129427"/>
            <a:chOff x="0" y="0"/>
            <a:chExt cx="3948378" cy="560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48378" cy="560837"/>
            </a:xfrm>
            <a:custGeom>
              <a:avLst/>
              <a:gdLst/>
              <a:ahLst/>
              <a:cxnLst/>
              <a:rect r="r" b="b" t="t" l="l"/>
              <a:pathLst>
                <a:path h="560837" w="3948378">
                  <a:moveTo>
                    <a:pt x="0" y="0"/>
                  </a:moveTo>
                  <a:lnTo>
                    <a:pt x="3948378" y="0"/>
                  </a:lnTo>
                  <a:lnTo>
                    <a:pt x="3948378" y="560837"/>
                  </a:lnTo>
                  <a:lnTo>
                    <a:pt x="0" y="560837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948378" cy="608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47439" y="4318303"/>
            <a:ext cx="2343051" cy="736542"/>
            <a:chOff x="0" y="0"/>
            <a:chExt cx="3124067" cy="98205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24067" cy="982056"/>
              <a:chOff x="0" y="0"/>
              <a:chExt cx="617100" cy="19398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17100" cy="193986"/>
              </a:xfrm>
              <a:custGeom>
                <a:avLst/>
                <a:gdLst/>
                <a:ahLst/>
                <a:cxnLst/>
                <a:rect r="r" b="b" t="t" l="l"/>
                <a:pathLst>
                  <a:path h="193986" w="617100">
                    <a:moveTo>
                      <a:pt x="0" y="0"/>
                    </a:moveTo>
                    <a:lnTo>
                      <a:pt x="617100" y="0"/>
                    </a:lnTo>
                    <a:lnTo>
                      <a:pt x="617100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617100" cy="241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43170" y="141566"/>
              <a:ext cx="1837727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전제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57486" y="2965609"/>
            <a:ext cx="9973028" cy="5949531"/>
          </a:xfrm>
          <a:custGeom>
            <a:avLst/>
            <a:gdLst/>
            <a:ahLst/>
            <a:cxnLst/>
            <a:rect r="r" b="b" t="t" l="l"/>
            <a:pathLst>
              <a:path h="5949531" w="9973028">
                <a:moveTo>
                  <a:pt x="0" y="0"/>
                </a:moveTo>
                <a:lnTo>
                  <a:pt x="9973028" y="0"/>
                </a:lnTo>
                <a:lnTo>
                  <a:pt x="9973028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16738" y="2893298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4803637" y="3308588"/>
            <a:ext cx="4646305" cy="4746646"/>
            <a:chOff x="0" y="0"/>
            <a:chExt cx="1223718" cy="12501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3718" cy="1250145"/>
            </a:xfrm>
            <a:custGeom>
              <a:avLst/>
              <a:gdLst/>
              <a:ahLst/>
              <a:cxnLst/>
              <a:rect r="r" b="b" t="t" l="l"/>
              <a:pathLst>
                <a:path h="1250145" w="1223718">
                  <a:moveTo>
                    <a:pt x="0" y="0"/>
                  </a:moveTo>
                  <a:lnTo>
                    <a:pt x="1223718" y="0"/>
                  </a:lnTo>
                  <a:lnTo>
                    <a:pt x="1223718" y="1250145"/>
                  </a:lnTo>
                  <a:lnTo>
                    <a:pt x="0" y="1250145"/>
                  </a:lnTo>
                  <a:close/>
                </a:path>
              </a:pathLst>
            </a:custGeom>
            <a:ln w="666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23718" cy="1297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51444" y="8996977"/>
            <a:ext cx="12668548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 그래프는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상위 8개의 회사의 매출 비중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나타낸 그래프입니다.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5~8등의 회사들은 매출에 있어 큰 차이가 나지 않으므로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상위 4개의 회사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중점적으로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이야기해 보도록 하겠습니다.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10279" y="3201351"/>
            <a:ext cx="8575504" cy="5120999"/>
          </a:xfrm>
          <a:custGeom>
            <a:avLst/>
            <a:gdLst/>
            <a:ahLst/>
            <a:cxnLst/>
            <a:rect r="r" b="b" t="t" l="l"/>
            <a:pathLst>
              <a:path h="5120999" w="8575504">
                <a:moveTo>
                  <a:pt x="0" y="0"/>
                </a:moveTo>
                <a:lnTo>
                  <a:pt x="8575504" y="0"/>
                </a:lnTo>
                <a:lnTo>
                  <a:pt x="857550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217" y="3201351"/>
            <a:ext cx="8584184" cy="5120999"/>
          </a:xfrm>
          <a:custGeom>
            <a:avLst/>
            <a:gdLst/>
            <a:ahLst/>
            <a:cxnLst/>
            <a:rect r="r" b="b" t="t" l="l"/>
            <a:pathLst>
              <a:path h="5120999" w="8584184">
                <a:moveTo>
                  <a:pt x="0" y="0"/>
                </a:moveTo>
                <a:lnTo>
                  <a:pt x="8584184" y="0"/>
                </a:lnTo>
                <a:lnTo>
                  <a:pt x="858418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64559" y="8636675"/>
            <a:ext cx="9158883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두 그래프를 확인해 보았을 때 회사들의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상승과 하락을 반복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함을 확인할 수 있습니다.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시장 전반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경기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변동에 관련이 있다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생각해 볼 수 있습니다.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10279" y="3201351"/>
            <a:ext cx="8575504" cy="5120999"/>
          </a:xfrm>
          <a:custGeom>
            <a:avLst/>
            <a:gdLst/>
            <a:ahLst/>
            <a:cxnLst/>
            <a:rect r="r" b="b" t="t" l="l"/>
            <a:pathLst>
              <a:path h="5120999" w="8575504">
                <a:moveTo>
                  <a:pt x="0" y="0"/>
                </a:moveTo>
                <a:lnTo>
                  <a:pt x="8575504" y="0"/>
                </a:lnTo>
                <a:lnTo>
                  <a:pt x="857550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6095" y="3201351"/>
            <a:ext cx="8584184" cy="5120999"/>
          </a:xfrm>
          <a:custGeom>
            <a:avLst/>
            <a:gdLst/>
            <a:ahLst/>
            <a:cxnLst/>
            <a:rect r="r" b="b" t="t" l="l"/>
            <a:pathLst>
              <a:path h="5120999" w="8584184">
                <a:moveTo>
                  <a:pt x="0" y="0"/>
                </a:moveTo>
                <a:lnTo>
                  <a:pt x="8584184" y="0"/>
                </a:lnTo>
                <a:lnTo>
                  <a:pt x="858418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2418" y="8857763"/>
            <a:ext cx="12463165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월별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영업 일수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차이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교차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검증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하기 위해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일평균 매출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(좌측 그래프)을 확인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 본 결과 증감 패턴이 일치하였습니다.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본 분석은 총체적인 성과 파악을 위해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월 합계 기준으로 진행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하였습니다.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51831" y="4718755"/>
            <a:ext cx="1293522" cy="294507"/>
          </a:xfrm>
          <a:custGeom>
            <a:avLst/>
            <a:gdLst/>
            <a:ahLst/>
            <a:cxnLst/>
            <a:rect r="r" b="b" t="t" l="l"/>
            <a:pathLst>
              <a:path h="294507" w="1293522">
                <a:moveTo>
                  <a:pt x="0" y="0"/>
                </a:moveTo>
                <a:lnTo>
                  <a:pt x="1293523" y="0"/>
                </a:lnTo>
                <a:lnTo>
                  <a:pt x="1293523" y="294508"/>
                </a:lnTo>
                <a:lnTo>
                  <a:pt x="0" y="29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51831" y="5038927"/>
            <a:ext cx="1293522" cy="294507"/>
          </a:xfrm>
          <a:custGeom>
            <a:avLst/>
            <a:gdLst/>
            <a:ahLst/>
            <a:cxnLst/>
            <a:rect r="r" b="b" t="t" l="l"/>
            <a:pathLst>
              <a:path h="294507" w="1293522">
                <a:moveTo>
                  <a:pt x="0" y="0"/>
                </a:moveTo>
                <a:lnTo>
                  <a:pt x="1293523" y="0"/>
                </a:lnTo>
                <a:lnTo>
                  <a:pt x="1293523" y="294507"/>
                </a:lnTo>
                <a:lnTo>
                  <a:pt x="0" y="294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55429" y="2950448"/>
            <a:ext cx="9937975" cy="6036566"/>
          </a:xfrm>
          <a:custGeom>
            <a:avLst/>
            <a:gdLst/>
            <a:ahLst/>
            <a:cxnLst/>
            <a:rect r="r" b="b" t="t" l="l"/>
            <a:pathLst>
              <a:path h="6036566" w="9937975">
                <a:moveTo>
                  <a:pt x="0" y="0"/>
                </a:moveTo>
                <a:lnTo>
                  <a:pt x="9937975" y="0"/>
                </a:lnTo>
                <a:lnTo>
                  <a:pt x="9937975" y="6036565"/>
                </a:lnTo>
                <a:lnTo>
                  <a:pt x="0" y="6036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17936" y="9140450"/>
            <a:ext cx="13212961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시장의 침체를 나타내는 회색 bar를 고려하더라도,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매출 하락률(-30.3%)은 굉장히 높음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확인할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즉,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1월 대비 2월 매출 감소 폭이 현저하게 커 시장 내 입지가 크게 위축될 우려가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4884" y="4128902"/>
            <a:ext cx="147542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 : 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Runail의 1월 대비 2월 매출의 감소 폭이 현저하게 커 시장 내 입지가 크게 위축될 우려가 있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28152" y="5567548"/>
            <a:ext cx="79393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 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2020년 2월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매출 하락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크다.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4884" y="4128902"/>
            <a:ext cx="147542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 : 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Runail의 1월 대비 2월 매출의 감소 폭이 현저하게 커 시장 내 입지가 크게 위축될 우려가 있다.</a:t>
            </a: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8921747" y="4967681"/>
            <a:ext cx="444505" cy="175819"/>
            <a:chOff x="0" y="0"/>
            <a:chExt cx="1798056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28152" y="5567548"/>
            <a:ext cx="79393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 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2020년 2월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매출 하락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크다.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4884" y="4128902"/>
            <a:ext cx="147511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 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Runail의 1월 대비 2월 매출의 감소 폭이 현저하게 커 시장 내 입지가 크게 위축될 우려가 있다.</a:t>
            </a: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8921747" y="4967681"/>
            <a:ext cx="444505" cy="175819"/>
            <a:chOff x="0" y="0"/>
            <a:chExt cx="1798056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877843" y="6586723"/>
            <a:ext cx="444505" cy="175819"/>
            <a:chOff x="0" y="0"/>
            <a:chExt cx="1798056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68825" y="7238791"/>
            <a:ext cx="896739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‘매출 = 전체 세션 수 x 전환율 x 객단가‘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지표 분해를 이용!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98481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36425" y="3426586"/>
            <a:ext cx="14287409" cy="4428769"/>
          </a:xfrm>
          <a:custGeom>
            <a:avLst/>
            <a:gdLst/>
            <a:ahLst/>
            <a:cxnLst/>
            <a:rect r="r" b="b" t="t" l="l"/>
            <a:pathLst>
              <a:path h="4428769" w="14287409">
                <a:moveTo>
                  <a:pt x="0" y="0"/>
                </a:moveTo>
                <a:lnTo>
                  <a:pt x="14287409" y="0"/>
                </a:lnTo>
                <a:lnTo>
                  <a:pt x="14287409" y="4428769"/>
                </a:lnTo>
                <a:lnTo>
                  <a:pt x="0" y="4428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5" r="0" b="-19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03926" y="4592663"/>
            <a:ext cx="13984717" cy="724633"/>
            <a:chOff x="0" y="0"/>
            <a:chExt cx="3192562" cy="1654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92562" cy="165426"/>
            </a:xfrm>
            <a:custGeom>
              <a:avLst/>
              <a:gdLst/>
              <a:ahLst/>
              <a:cxnLst/>
              <a:rect r="r" b="b" t="t" l="l"/>
              <a:pathLst>
                <a:path h="165426" w="3192562">
                  <a:moveTo>
                    <a:pt x="3192562" y="0"/>
                  </a:moveTo>
                  <a:lnTo>
                    <a:pt x="3192562" y="165426"/>
                  </a:lnTo>
                  <a:lnTo>
                    <a:pt x="0" y="165426"/>
                  </a:lnTo>
                  <a:lnTo>
                    <a:pt x="0" y="0"/>
                  </a:lnTo>
                  <a:close/>
                </a:path>
              </a:pathLst>
            </a:custGeom>
            <a:ln w="857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92562" cy="2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21481" y="1253961"/>
            <a:ext cx="527029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지표 분해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176" y="8312555"/>
            <a:ext cx="17903649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 표는 매출의 지표 분해 후 1월 대비 2월의 변화율을 히트맵으로 나타낸 것입니다.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Runial의 경우 세 변수 모두 감소함을 확인할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세 변수 중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어떤 것을 먼저 고려해야 하는지 확인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 본 후,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분석의 순서를 결정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 보도록 하겠습니다.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02378" cy="81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0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98481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63133" y="3045742"/>
            <a:ext cx="7792920" cy="6101275"/>
          </a:xfrm>
          <a:custGeom>
            <a:avLst/>
            <a:gdLst/>
            <a:ahLst/>
            <a:cxnLst/>
            <a:rect r="r" b="b" t="t" l="l"/>
            <a:pathLst>
              <a:path h="6101275" w="7792920">
                <a:moveTo>
                  <a:pt x="0" y="0"/>
                </a:moveTo>
                <a:lnTo>
                  <a:pt x="7792920" y="0"/>
                </a:lnTo>
                <a:lnTo>
                  <a:pt x="7792920" y="6101276"/>
                </a:lnTo>
                <a:lnTo>
                  <a:pt x="0" y="6101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4" r="-218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527029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지표 분해 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3620" y="9308943"/>
            <a:ext cx="14597162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현재는 곱 형태로 이루어져 있어 변수별 매출 감소 기여도를 파악하기 어렵기에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양변에 로그를 취해 합의 형태로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바꿔주도록 하겠습니다.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02378" cy="81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0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98481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68563" y="2956745"/>
            <a:ext cx="9350875" cy="5662137"/>
          </a:xfrm>
          <a:custGeom>
            <a:avLst/>
            <a:gdLst/>
            <a:ahLst/>
            <a:cxnLst/>
            <a:rect r="r" b="b" t="t" l="l"/>
            <a:pathLst>
              <a:path h="5662137" w="9350875">
                <a:moveTo>
                  <a:pt x="0" y="0"/>
                </a:moveTo>
                <a:lnTo>
                  <a:pt x="9350874" y="0"/>
                </a:lnTo>
                <a:lnTo>
                  <a:pt x="9350874" y="5662137"/>
                </a:lnTo>
                <a:lnTo>
                  <a:pt x="0" y="5662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527029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지표 분해 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1903" y="8904100"/>
            <a:ext cx="14564194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이를 통해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객단가 감소와 세션 감소가 매출 감소의 큰 원인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임을 파악할 수 있습니다. </a:t>
            </a:r>
          </a:p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다만, 현재 데이터셋의 한계로 세션 감소의 직접적인 원인을 단정하기 어렵습니다.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따라서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먼저 분석하도록 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65881" y="3308769"/>
            <a:ext cx="7956237" cy="5949531"/>
          </a:xfrm>
          <a:custGeom>
            <a:avLst/>
            <a:gdLst/>
            <a:ahLst/>
            <a:cxnLst/>
            <a:rect r="r" b="b" t="t" l="l"/>
            <a:pathLst>
              <a:path h="5949531" w="7956237">
                <a:moveTo>
                  <a:pt x="0" y="0"/>
                </a:moveTo>
                <a:lnTo>
                  <a:pt x="7956238" y="0"/>
                </a:lnTo>
                <a:lnTo>
                  <a:pt x="7956238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1568386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87" y="9308175"/>
            <a:ext cx="17351226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 그래프에 따르면 객단가 하락에 있어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평균 상품 가격은 -0.8%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하락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 그쳐 미미했던 반면,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구매당 상품 수는 -14.7% 하락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것으로 나타났습니다.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구매당 상품 수에 대해 조금 더 자세히 확인해 보겠습니다.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42706" y="2501527"/>
            <a:ext cx="8888313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= 구매당 상품 수 X 평균 상품 가격‘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 지표 분해를 사용하였습니다. </a:t>
            </a:r>
          </a:p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막대그래프는 객단가와 객단가의 구성 지표의 변화율을 나타낸 그래프입니다.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62528" y="3012848"/>
            <a:ext cx="9962944" cy="5949531"/>
          </a:xfrm>
          <a:custGeom>
            <a:avLst/>
            <a:gdLst/>
            <a:ahLst/>
            <a:cxnLst/>
            <a:rect r="r" b="b" t="t" l="l"/>
            <a:pathLst>
              <a:path h="5949531" w="9962944">
                <a:moveTo>
                  <a:pt x="0" y="0"/>
                </a:moveTo>
                <a:lnTo>
                  <a:pt x="9962944" y="0"/>
                </a:lnTo>
                <a:lnTo>
                  <a:pt x="9962944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1568386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87" y="9057629"/>
            <a:ext cx="17351226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상위 4사와 시장 평균 중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오직 Runail의 구매당 상품 수만 감소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함을 확인할 수 있습니다. </a:t>
            </a: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 전체의 상승에도 불구하고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Runail만 감소하는 원인이 있을 것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으로 판단하였습니다.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감소의 원인을 찾기 위해 구매당 상품 수와 직접적인 관계가 있을 것으로 보이는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구매 이전 행동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살펴보았습니다.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564338"/>
            <a:ext cx="15683865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그래프는 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1월과 2월의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구매당 상품 수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나타낸 그래프입니다.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517847" y="3511296"/>
            <a:ext cx="9252305" cy="5620073"/>
          </a:xfrm>
          <a:custGeom>
            <a:avLst/>
            <a:gdLst/>
            <a:ahLst/>
            <a:cxnLst/>
            <a:rect r="r" b="b" t="t" l="l"/>
            <a:pathLst>
              <a:path h="5620073" w="9252305">
                <a:moveTo>
                  <a:pt x="0" y="0"/>
                </a:moveTo>
                <a:lnTo>
                  <a:pt x="9252306" y="0"/>
                </a:lnTo>
                <a:lnTo>
                  <a:pt x="9252306" y="5620073"/>
                </a:lnTo>
                <a:lnTo>
                  <a:pt x="0" y="562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73994" y="2916160"/>
            <a:ext cx="10957620" cy="42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 spc="202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가설1 : </a:t>
            </a:r>
            <a:r>
              <a:rPr lang="en-US" b="true" sz="2444" spc="202" u="sng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구매 전 탐색 활동은 시장 평균에 비해 감소했을 것이다.</a:t>
            </a:r>
            <a:r>
              <a:rPr lang="en-US" b="true" sz="2444" spc="202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→ 채택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3003" y="9264719"/>
            <a:ext cx="13702897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전체 시장의 구매 전 탐색 활동이 증가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것에 비해,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구매 전 탐색 활동은 감소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것을 확인할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구매당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‘상품 수’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감소의 원인을 찾기 위해 조금 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‘상품 수‘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에 초점을 맞춰보도록 하겠습니다.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26840" y="2444102"/>
            <a:ext cx="11290003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6"/>
              </a:lnSpc>
              <a:spcBef>
                <a:spcPct val="0"/>
              </a:spcBef>
            </a:pPr>
            <a:r>
              <a:rPr lang="en-US" sz="204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(구매 전 탐색 활동 = 세션에서 최초 purchase 이벤트 이전까지 발생한 view와 cart 이벤트의 평균 개수로 정의)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8582" y="3097123"/>
            <a:ext cx="15050837" cy="5588416"/>
          </a:xfrm>
          <a:custGeom>
            <a:avLst/>
            <a:gdLst/>
            <a:ahLst/>
            <a:cxnLst/>
            <a:rect r="r" b="b" t="t" l="l"/>
            <a:pathLst>
              <a:path h="5588416" w="15050837">
                <a:moveTo>
                  <a:pt x="0" y="0"/>
                </a:moveTo>
                <a:lnTo>
                  <a:pt x="15050836" y="0"/>
                </a:lnTo>
                <a:lnTo>
                  <a:pt x="15050836" y="5588416"/>
                </a:lnTo>
                <a:lnTo>
                  <a:pt x="0" y="558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864" y="8898889"/>
            <a:ext cx="16681054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수량 변화율(-15.7%)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실제 구매 수량 변화율(-18.9%) 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간에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큰 차이가 없다는 점에 주목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필요가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즉,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구매당 상품 수 감소의 가장 큰 원인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은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담기 수량 자체의 감소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라는 것을 파악할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이는 장바구니에 담아두고 구매를 하지 않은 것이 문제가 아니라,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장바구니에 담는 수량 자체가 줄어든 것이 구매당 상품 수 감소로 이어진 것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의미합니다.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185086" y="4900354"/>
            <a:ext cx="1107776" cy="3280908"/>
            <a:chOff x="0" y="0"/>
            <a:chExt cx="252893" cy="748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2893" cy="748996"/>
            </a:xfrm>
            <a:custGeom>
              <a:avLst/>
              <a:gdLst/>
              <a:ahLst/>
              <a:cxnLst/>
              <a:rect r="r" b="b" t="t" l="l"/>
              <a:pathLst>
                <a:path h="748996" w="252893">
                  <a:moveTo>
                    <a:pt x="252893" y="0"/>
                  </a:moveTo>
                  <a:lnTo>
                    <a:pt x="252893" y="748996"/>
                  </a:lnTo>
                  <a:lnTo>
                    <a:pt x="0" y="748996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2893" cy="796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18017" y="4721591"/>
            <a:ext cx="1270287" cy="3459671"/>
            <a:chOff x="0" y="0"/>
            <a:chExt cx="289993" cy="7898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9993" cy="789806"/>
            </a:xfrm>
            <a:custGeom>
              <a:avLst/>
              <a:gdLst/>
              <a:ahLst/>
              <a:cxnLst/>
              <a:rect r="r" b="b" t="t" l="l"/>
              <a:pathLst>
                <a:path h="789806" w="289993">
                  <a:moveTo>
                    <a:pt x="289993" y="0"/>
                  </a:moveTo>
                  <a:lnTo>
                    <a:pt x="289993" y="789806"/>
                  </a:lnTo>
                  <a:lnTo>
                    <a:pt x="0" y="789806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89993" cy="83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73611" y="2781250"/>
            <a:ext cx="12740778" cy="6329112"/>
          </a:xfrm>
          <a:custGeom>
            <a:avLst/>
            <a:gdLst/>
            <a:ahLst/>
            <a:cxnLst/>
            <a:rect r="r" b="b" t="t" l="l"/>
            <a:pathLst>
              <a:path h="6329112" w="12740778">
                <a:moveTo>
                  <a:pt x="0" y="0"/>
                </a:moveTo>
                <a:lnTo>
                  <a:pt x="12740778" y="0"/>
                </a:lnTo>
                <a:lnTo>
                  <a:pt x="12740778" y="6329112"/>
                </a:lnTo>
                <a:lnTo>
                  <a:pt x="0" y="6329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9238" y="9220200"/>
            <a:ext cx="11887994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다음 그래프는 장바구니 담기 수량을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가격대별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로 나누어보기 위해 구한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가격대별 상품 판매 수량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그래프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가격대를 나누기 위해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Q1, Q2, Q3 + 1.5 x IQR를 표시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해보았습니다.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991891" y="4184555"/>
          <a:ext cx="14304218" cy="3875013"/>
        </p:xfrm>
        <a:graphic>
          <a:graphicData uri="http://schemas.openxmlformats.org/drawingml/2006/table">
            <a:tbl>
              <a:tblPr/>
              <a:tblGrid>
                <a:gridCol w="3675315"/>
                <a:gridCol w="5588931"/>
                <a:gridCol w="5039972"/>
              </a:tblGrid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통계적 경계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최종 가격대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1구간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~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Q1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1$ 미만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2구간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Q1 ~ Q2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$ 이상 ~ 2.5$ 미만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3구간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Q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 ~ Q3 + 1.5IQR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.5$ 이상 ~ 6.5$ 미만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이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상치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Q3 + 1.5IQR ~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.5$ 이상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8960668" y="8216749"/>
            <a:ext cx="7335441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489" indent="-238745" lvl="1">
              <a:lnSpc>
                <a:spcPts val="30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직관적인 가격대 설정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위해 통계 수치를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일부 반올림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하여 적용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7512" y="3422650"/>
            <a:ext cx="8881567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앞서 구한 통계적 경계치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바탕으로 정의한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 가격대 구간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은 다음과 같습니다."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3101665"/>
            <a:ext cx="8560563" cy="5106908"/>
          </a:xfrm>
          <a:custGeom>
            <a:avLst/>
            <a:gdLst/>
            <a:ahLst/>
            <a:cxnLst/>
            <a:rect r="r" b="b" t="t" l="l"/>
            <a:pathLst>
              <a:path h="5106908" w="8560563">
                <a:moveTo>
                  <a:pt x="0" y="0"/>
                </a:moveTo>
                <a:lnTo>
                  <a:pt x="8560563" y="0"/>
                </a:lnTo>
                <a:lnTo>
                  <a:pt x="8560563" y="5106908"/>
                </a:lnTo>
                <a:lnTo>
                  <a:pt x="0" y="510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820934" y="3291487"/>
            <a:ext cx="1774074" cy="4727264"/>
            <a:chOff x="0" y="0"/>
            <a:chExt cx="405002" cy="1079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002" cy="1079184"/>
            </a:xfrm>
            <a:custGeom>
              <a:avLst/>
              <a:gdLst/>
              <a:ahLst/>
              <a:cxnLst/>
              <a:rect r="r" b="b" t="t" l="l"/>
              <a:pathLst>
                <a:path h="1079184" w="405002">
                  <a:moveTo>
                    <a:pt x="405002" y="0"/>
                  </a:moveTo>
                  <a:lnTo>
                    <a:pt x="405002" y="1079184"/>
                  </a:lnTo>
                  <a:lnTo>
                    <a:pt x="0" y="1079184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05002" cy="1126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83437" y="3101665"/>
            <a:ext cx="8560563" cy="5106908"/>
          </a:xfrm>
          <a:custGeom>
            <a:avLst/>
            <a:gdLst/>
            <a:ahLst/>
            <a:cxnLst/>
            <a:rect r="r" b="b" t="t" l="l"/>
            <a:pathLst>
              <a:path h="5106908" w="8560563">
                <a:moveTo>
                  <a:pt x="0" y="0"/>
                </a:moveTo>
                <a:lnTo>
                  <a:pt x="8560563" y="0"/>
                </a:lnTo>
                <a:lnTo>
                  <a:pt x="8560563" y="5106908"/>
                </a:lnTo>
                <a:lnTo>
                  <a:pt x="0" y="5106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188763" y="3309159"/>
            <a:ext cx="1806576" cy="4727264"/>
            <a:chOff x="0" y="0"/>
            <a:chExt cx="412422" cy="1079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2422" cy="1079184"/>
            </a:xfrm>
            <a:custGeom>
              <a:avLst/>
              <a:gdLst/>
              <a:ahLst/>
              <a:cxnLst/>
              <a:rect r="r" b="b" t="t" l="l"/>
              <a:pathLst>
                <a:path h="1079184" w="412422">
                  <a:moveTo>
                    <a:pt x="412422" y="0"/>
                  </a:moveTo>
                  <a:lnTo>
                    <a:pt x="412422" y="1079184"/>
                  </a:lnTo>
                  <a:lnTo>
                    <a:pt x="0" y="1079184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12422" cy="1126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662500"/>
            <a:ext cx="16594350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[좌측] 장바구니 수량 변화율 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구간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-28.4%로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가장 크게 감소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했습니다.</a:t>
            </a:r>
          </a:p>
          <a:p>
            <a:pPr algn="ctr">
              <a:lnSpc>
                <a:spcPts val="3096"/>
              </a:lnSpc>
            </a:pP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[우측] 가격대별 판매 수량 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구간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은 총 19,518건으로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판매량이 가장 집중된 핵심 가격대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결론 : 거래의 가장 큰 볼륨을 차지하는 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구간의 장바구니 담기 수량 급감이 객단가 하락의 핵심 원인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0988" y="1084181"/>
            <a:ext cx="8438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09002" y="5076825"/>
            <a:ext cx="107542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감소 원인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상품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 감소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0988" y="1084181"/>
            <a:ext cx="8438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09002" y="5076825"/>
            <a:ext cx="1029558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감소 원인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상품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 감소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9144000" y="5891330"/>
            <a:ext cx="444505" cy="175819"/>
            <a:chOff x="0" y="0"/>
            <a:chExt cx="1798056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31254" y="6295748"/>
            <a:ext cx="94699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감소의 또 다른 원인인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살펴보도록 하겠습니다.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97991" y="2943838"/>
            <a:ext cx="14396865" cy="5551791"/>
          </a:xfrm>
          <a:custGeom>
            <a:avLst/>
            <a:gdLst/>
            <a:ahLst/>
            <a:cxnLst/>
            <a:rect r="r" b="b" t="t" l="l"/>
            <a:pathLst>
              <a:path h="5551791" w="14396865">
                <a:moveTo>
                  <a:pt x="0" y="0"/>
                </a:moveTo>
                <a:lnTo>
                  <a:pt x="14396864" y="0"/>
                </a:lnTo>
                <a:lnTo>
                  <a:pt x="14396864" y="5551791"/>
                </a:lnTo>
                <a:lnTo>
                  <a:pt x="0" y="555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722181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720" y="8742975"/>
            <a:ext cx="17698560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2월의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담기 전환율은 상대적으로 높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지만,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전환율이 상대적으로 낮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장바구니에서 구매까지의 이탈이 많은 것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이므로 해당 과정을 살펴볼 필요가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Runail의 장바구니 전환율을 개선하기 위해, 고객들이 장바구니에 물건을 담은 후 결제하기까지의 행동 패턴을 분석해 보았습니다.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30117" y="2916716"/>
            <a:ext cx="13155350" cy="6096166"/>
          </a:xfrm>
          <a:custGeom>
            <a:avLst/>
            <a:gdLst/>
            <a:ahLst/>
            <a:cxnLst/>
            <a:rect r="r" b="b" t="t" l="l"/>
            <a:pathLst>
              <a:path h="6096166" w="13155350">
                <a:moveTo>
                  <a:pt x="0" y="0"/>
                </a:moveTo>
                <a:lnTo>
                  <a:pt x="13155349" y="0"/>
                </a:lnTo>
                <a:lnTo>
                  <a:pt x="13155349" y="6096166"/>
                </a:lnTo>
                <a:lnTo>
                  <a:pt x="0" y="609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899970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</a:t>
            </a: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- 장바구니 </a:t>
            </a: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105" y="9220200"/>
            <a:ext cx="17181344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그래프는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담기 후 구매까지 걸리는 시간별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나타낸 그래프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장바구니에 물건을 담은 후 구매까지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30분 이내 구매 비중이 73%를 차지함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확인할 수 있습니다.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49985" y="3413847"/>
            <a:ext cx="11704422" cy="5844453"/>
          </a:xfrm>
          <a:custGeom>
            <a:avLst/>
            <a:gdLst/>
            <a:ahLst/>
            <a:cxnLst/>
            <a:rect r="r" b="b" t="t" l="l"/>
            <a:pathLst>
              <a:path h="5844453" w="11704422">
                <a:moveTo>
                  <a:pt x="0" y="0"/>
                </a:moveTo>
                <a:lnTo>
                  <a:pt x="11704423" y="0"/>
                </a:lnTo>
                <a:lnTo>
                  <a:pt x="11704423" y="5844453"/>
                </a:lnTo>
                <a:lnTo>
                  <a:pt x="0" y="58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6" t="0" r="-37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817255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6896" y="2456762"/>
            <a:ext cx="14319747" cy="85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22"/>
              </a:lnSpc>
              <a:spcBef>
                <a:spcPct val="0"/>
              </a:spcBef>
            </a:pPr>
            <a:r>
              <a:rPr lang="en-US" b="true" sz="2444" spc="202" strike="noStrike" u="sng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가설 2 : 가격대가 높을수록 장바구니 담기 후 30분 이내에 구매하는 고객의 비중이 줄어들 것이다. → 채택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73666" y="9324975"/>
            <a:ext cx="9657061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분석 결과,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30분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이라는 시간은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2.5~6.5$ 상품에서 가장 강력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하게 작동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했으며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 이상의 상품은 시간에 구애받지 않고 신중하게 구매하는 패턴을 확인할 수 있습니다.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8787" y="2473223"/>
            <a:ext cx="13535620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30분이라는 시간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적용될지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문이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들었고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앞서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객단가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분석에서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활용한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가격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세그먼트를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적용해 보았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습니다.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1526" y="3375747"/>
            <a:ext cx="5476577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격대가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높을수록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더욱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신중하게 구매할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것이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다.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57486" y="2845673"/>
            <a:ext cx="9973028" cy="5949531"/>
          </a:xfrm>
          <a:custGeom>
            <a:avLst/>
            <a:gdLst/>
            <a:ahLst/>
            <a:cxnLst/>
            <a:rect r="r" b="b" t="t" l="l"/>
            <a:pathLst>
              <a:path h="5949531" w="9973028">
                <a:moveTo>
                  <a:pt x="0" y="0"/>
                </a:moveTo>
                <a:lnTo>
                  <a:pt x="9973028" y="0"/>
                </a:lnTo>
                <a:lnTo>
                  <a:pt x="9973028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8315171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1398" y="8940848"/>
            <a:ext cx="17919461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1월 대비 2월의 가격대별 장바구니 전환율의 변화율을 살펴본다면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전반적인 하락세 속에서도 6.5$ 이상인 고가 라인업의 낙폭이 큽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따라서 일괄적인 대응보다는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가격대별 하락 원인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고객의 '구매 호흡'에 맞춘 차별화된 개선 방안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마련할 필요가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0988" y="1084181"/>
            <a:ext cx="8438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91346" y="5076825"/>
            <a:ext cx="143568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전환율의 감소 원인 : 6.5$ 이상 상품 중심으로의 고가 제품군의 장바구니 전환율 하락세 (추정)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9123" y="108418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요약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34738" y="5062383"/>
            <a:ext cx="7418523" cy="4565879"/>
            <a:chOff x="0" y="0"/>
            <a:chExt cx="1953850" cy="12025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3850" cy="1202536"/>
            </a:xfrm>
            <a:custGeom>
              <a:avLst/>
              <a:gdLst/>
              <a:ahLst/>
              <a:cxnLst/>
              <a:rect r="r" b="b" t="t" l="l"/>
              <a:pathLst>
                <a:path h="1202536" w="1953850">
                  <a:moveTo>
                    <a:pt x="0" y="0"/>
                  </a:moveTo>
                  <a:lnTo>
                    <a:pt x="1953850" y="0"/>
                  </a:lnTo>
                  <a:lnTo>
                    <a:pt x="1953850" y="1202536"/>
                  </a:lnTo>
                  <a:lnTo>
                    <a:pt x="0" y="1202536"/>
                  </a:lnTo>
                  <a:close/>
                </a:path>
              </a:pathLst>
            </a:custGeom>
            <a:ln w="9525" cap="sq">
              <a:solidFill>
                <a:srgbClr val="28282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53850" cy="1250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96389" y="4683993"/>
            <a:ext cx="4518074" cy="756779"/>
            <a:chOff x="0" y="0"/>
            <a:chExt cx="6024098" cy="100903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7373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Cause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68252" y="5869216"/>
            <a:ext cx="6024006" cy="736542"/>
            <a:chOff x="0" y="0"/>
            <a:chExt cx="1586570" cy="1939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2.5-6.5$ 상품의 세션당 장바구니 수량 감소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11207" y="8372632"/>
            <a:ext cx="6081051" cy="736542"/>
            <a:chOff x="0" y="0"/>
            <a:chExt cx="1601594" cy="1939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01594" cy="193986"/>
            </a:xfrm>
            <a:custGeom>
              <a:avLst/>
              <a:gdLst/>
              <a:ahLst/>
              <a:cxnLst/>
              <a:rect r="r" b="b" t="t" l="l"/>
              <a:pathLst>
                <a:path h="193986" w="1601594">
                  <a:moveTo>
                    <a:pt x="0" y="0"/>
                  </a:moveTo>
                  <a:lnTo>
                    <a:pt x="1601594" y="0"/>
                  </a:lnTo>
                  <a:lnTo>
                    <a:pt x="1601594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01594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6.5$ 이상 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고가 제품군의 장바구니 전환율 하락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68252" y="7070590"/>
            <a:ext cx="6024006" cy="736542"/>
            <a:chOff x="0" y="0"/>
            <a:chExt cx="1586570" cy="1939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6.5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$ 이하 제품의 장바구니 담기 후 골든타임 방치 (추정)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8833173" y="4215788"/>
            <a:ext cx="444505" cy="175819"/>
            <a:chOff x="0" y="0"/>
            <a:chExt cx="1798056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96389" y="3166623"/>
            <a:ext cx="4518074" cy="756779"/>
            <a:chOff x="0" y="0"/>
            <a:chExt cx="6024098" cy="100903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BCBCB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Problem : 매출 감소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1773316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Test 1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72210" y="4809754"/>
            <a:ext cx="0" cy="3275378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379649"/>
            <a:ext cx="8728981" cy="254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단순 권유 넛지 배너 노출 (기존 유지)</a:t>
            </a: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"2.5~6.5$ 상품을 하나 더 담아보시는 건 어떨까요?")</a:t>
            </a:r>
          </a:p>
          <a:p>
            <a:pPr algn="ctr">
              <a:lnSpc>
                <a:spcPts val="3413"/>
              </a:lnSpc>
            </a:pP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B: 10% 할인 혜택 포함 넛지 배너 노출 </a:t>
            </a: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"2.5~6.5$ 상품 2개 구매 시 10% 추가 할인!")</a:t>
            </a: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78820" y="4733554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A/B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8978" y="5604592"/>
            <a:ext cx="6847230" cy="12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Primary KPI: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</a:t>
            </a:r>
          </a:p>
          <a:p>
            <a:pPr algn="ctr">
              <a:lnSpc>
                <a:spcPts val="3413"/>
              </a:lnSpc>
            </a:pP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Guardrail KPI: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이탈률, 세션당 순 마진율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1896" y="4786096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KPI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1172" y="3163878"/>
            <a:ext cx="1090014" cy="1064851"/>
            <a:chOff x="0" y="0"/>
            <a:chExt cx="311576" cy="3043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576" cy="304383"/>
            </a:xfrm>
            <a:custGeom>
              <a:avLst/>
              <a:gdLst/>
              <a:ahLst/>
              <a:cxnLst/>
              <a:rect r="r" b="b" t="t" l="l"/>
              <a:pathLst>
                <a:path h="304383" w="311576">
                  <a:moveTo>
                    <a:pt x="0" y="0"/>
                  </a:moveTo>
                  <a:lnTo>
                    <a:pt x="311576" y="0"/>
                  </a:lnTo>
                  <a:lnTo>
                    <a:pt x="311576" y="304383"/>
                  </a:lnTo>
                  <a:lnTo>
                    <a:pt x="0" y="304383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11576" cy="352008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5580" y="3443318"/>
            <a:ext cx="641199" cy="4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39749" y="3321923"/>
            <a:ext cx="3869834" cy="338290"/>
            <a:chOff x="0" y="0"/>
            <a:chExt cx="1106176" cy="966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176" cy="96699"/>
            </a:xfrm>
            <a:custGeom>
              <a:avLst/>
              <a:gdLst/>
              <a:ahLst/>
              <a:cxnLst/>
              <a:rect r="r" b="b" t="t" l="l"/>
              <a:pathLst>
                <a:path h="96699" w="1106176">
                  <a:moveTo>
                    <a:pt x="0" y="0"/>
                  </a:moveTo>
                  <a:lnTo>
                    <a:pt x="1106176" y="0"/>
                  </a:lnTo>
                  <a:lnTo>
                    <a:pt x="1106176" y="96699"/>
                  </a:lnTo>
                  <a:lnTo>
                    <a:pt x="0" y="9669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06176" cy="14432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52613" y="3365174"/>
            <a:ext cx="2991987" cy="295038"/>
            <a:chOff x="0" y="0"/>
            <a:chExt cx="855247" cy="843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5247" cy="84336"/>
            </a:xfrm>
            <a:custGeom>
              <a:avLst/>
              <a:gdLst/>
              <a:ahLst/>
              <a:cxnLst/>
              <a:rect r="r" b="b" t="t" l="l"/>
              <a:pathLst>
                <a:path h="84336" w="855247">
                  <a:moveTo>
                    <a:pt x="0" y="0"/>
                  </a:moveTo>
                  <a:lnTo>
                    <a:pt x="855247" y="0"/>
                  </a:lnTo>
                  <a:lnTo>
                    <a:pt x="855247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55247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98317" y="3365174"/>
            <a:ext cx="4412461" cy="295038"/>
            <a:chOff x="0" y="0"/>
            <a:chExt cx="1261284" cy="84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1284" cy="84336"/>
            </a:xfrm>
            <a:custGeom>
              <a:avLst/>
              <a:gdLst/>
              <a:ahLst/>
              <a:cxnLst/>
              <a:rect r="r" b="b" t="t" l="l"/>
              <a:pathLst>
                <a:path h="84336" w="1261284">
                  <a:moveTo>
                    <a:pt x="0" y="0"/>
                  </a:moveTo>
                  <a:lnTo>
                    <a:pt x="1261284" y="0"/>
                  </a:lnTo>
                  <a:lnTo>
                    <a:pt x="1261284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61284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39749" y="3317549"/>
            <a:ext cx="16035864" cy="6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상품을 장바구니에 1개 담은 고객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 아무 조치를 하지 않은 대조군 대비,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다구매 조건부 할인 넛지를 노출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했을 때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수량이 15% 이상 증가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것이다.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61186" y="3163878"/>
            <a:ext cx="16354132" cy="1064851"/>
            <a:chOff x="0" y="0"/>
            <a:chExt cx="4162391" cy="2710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2391" cy="271022"/>
            </a:xfrm>
            <a:custGeom>
              <a:avLst/>
              <a:gdLst/>
              <a:ahLst/>
              <a:cxnLst/>
              <a:rect r="r" b="b" t="t" l="l"/>
              <a:pathLst>
                <a:path h="271022" w="4162391">
                  <a:moveTo>
                    <a:pt x="0" y="0"/>
                  </a:moveTo>
                  <a:lnTo>
                    <a:pt x="4162391" y="0"/>
                  </a:lnTo>
                  <a:lnTo>
                    <a:pt x="4162391" y="271022"/>
                  </a:lnTo>
                  <a:lnTo>
                    <a:pt x="0" y="271022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162391" cy="318647"/>
            </a:xfrm>
            <a:prstGeom prst="rect">
              <a:avLst/>
            </a:prstGeom>
          </p:spPr>
          <p:txBody>
            <a:bodyPr anchor="ctr" rtlCol="false" tIns="52568" lIns="52568" bIns="52568" rIns="52568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828211" y="8628057"/>
            <a:ext cx="15087998" cy="96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WiserReview의 업셀링 및 크로스셀링 통계 자료를 참고했을 때, 관련 프로모션 적용 시 관련 지표가 약 10~30% 정도 증가하는 경향이 확인됩니다.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이를 기반으로 본 실험의 목표치를 세션당 장바구니 담기 수량의 15% 증가로 설정하였습니다.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 : </a:t>
            </a:r>
            <a:r>
              <a:rPr lang="en-US" sz="1847" spc="153" u="sng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  <a:hlinkClick r:id="rId2" tooltip="https://wiserreview.com/blog/upselling-and-cross-selling-statistics/"/>
              </a:rPr>
              <a:t>WiserReview19 Latest upselling and cross-selling statistics (2026)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47230" y="1743546"/>
            <a:ext cx="6840835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</a:t>
            </a: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 저가 상품 장바구니 수량 증대 (객단가)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1773316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Test 2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72210" y="4809754"/>
            <a:ext cx="0" cy="3275378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379649"/>
            <a:ext cx="8728981" cy="169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30분 경과 후 아무 알림도 보내지 않음 (기존 유지)</a:t>
            </a:r>
          </a:p>
          <a:p>
            <a:pPr algn="ctr">
              <a:lnSpc>
                <a:spcPts val="3413"/>
              </a:lnSpc>
            </a:pP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 : 30분 경과 시점에 알림톡/푸시 발송</a:t>
            </a: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"장바구니에 담아두신 상품을 잊지 않으셨나요?")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8820" y="4733554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A/B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72087" y="5605281"/>
            <a:ext cx="6021644" cy="12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Primary KPI: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전환율</a:t>
            </a:r>
          </a:p>
          <a:p>
            <a:pPr algn="ctr">
              <a:lnSpc>
                <a:spcPts val="3413"/>
              </a:lnSpc>
            </a:pP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Guardrail KPI: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푸시 알림 차단율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1896" y="4786096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KPI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69439" y="3511654"/>
            <a:ext cx="2991988" cy="295038"/>
            <a:chOff x="0" y="0"/>
            <a:chExt cx="855248" cy="84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5248" cy="84336"/>
            </a:xfrm>
            <a:custGeom>
              <a:avLst/>
              <a:gdLst/>
              <a:ahLst/>
              <a:cxnLst/>
              <a:rect r="r" b="b" t="t" l="l"/>
              <a:pathLst>
                <a:path h="84336" w="855248">
                  <a:moveTo>
                    <a:pt x="0" y="0"/>
                  </a:moveTo>
                  <a:lnTo>
                    <a:pt x="855248" y="0"/>
                  </a:lnTo>
                  <a:lnTo>
                    <a:pt x="855248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55248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87468" y="3513732"/>
            <a:ext cx="3376575" cy="295038"/>
            <a:chOff x="0" y="0"/>
            <a:chExt cx="965180" cy="84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180" cy="84336"/>
            </a:xfrm>
            <a:custGeom>
              <a:avLst/>
              <a:gdLst/>
              <a:ahLst/>
              <a:cxnLst/>
              <a:rect r="r" b="b" t="t" l="l"/>
              <a:pathLst>
                <a:path h="84336" w="965180">
                  <a:moveTo>
                    <a:pt x="0" y="0"/>
                  </a:moveTo>
                  <a:lnTo>
                    <a:pt x="965180" y="0"/>
                  </a:lnTo>
                  <a:lnTo>
                    <a:pt x="965180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5180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1481" y="3163878"/>
            <a:ext cx="1090014" cy="1064851"/>
            <a:chOff x="0" y="0"/>
            <a:chExt cx="311576" cy="3043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1576" cy="304383"/>
            </a:xfrm>
            <a:custGeom>
              <a:avLst/>
              <a:gdLst/>
              <a:ahLst/>
              <a:cxnLst/>
              <a:rect r="r" b="b" t="t" l="l"/>
              <a:pathLst>
                <a:path h="304383" w="311576">
                  <a:moveTo>
                    <a:pt x="0" y="0"/>
                  </a:moveTo>
                  <a:lnTo>
                    <a:pt x="311576" y="0"/>
                  </a:lnTo>
                  <a:lnTo>
                    <a:pt x="311576" y="304383"/>
                  </a:lnTo>
                  <a:lnTo>
                    <a:pt x="0" y="304383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11576" cy="352008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5889" y="3443318"/>
            <a:ext cx="641199" cy="4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712753" y="3491067"/>
            <a:ext cx="5928061" cy="338290"/>
            <a:chOff x="0" y="0"/>
            <a:chExt cx="1694512" cy="966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94512" cy="96699"/>
            </a:xfrm>
            <a:custGeom>
              <a:avLst/>
              <a:gdLst/>
              <a:ahLst/>
              <a:cxnLst/>
              <a:rect r="r" b="b" t="t" l="l"/>
              <a:pathLst>
                <a:path h="96699" w="1694512">
                  <a:moveTo>
                    <a:pt x="0" y="0"/>
                  </a:moveTo>
                  <a:lnTo>
                    <a:pt x="1694512" y="0"/>
                  </a:lnTo>
                  <a:lnTo>
                    <a:pt x="1694512" y="96699"/>
                  </a:lnTo>
                  <a:lnTo>
                    <a:pt x="0" y="9669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694512" cy="14432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73964" y="3452843"/>
            <a:ext cx="16035864" cy="3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 미만 상품을 장바구니에 담고 30분간 결제하지 않은 고객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리마인드 알림을 발송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하면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전환율이 5%p 이상 상승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것이다.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511495" y="3192453"/>
            <a:ext cx="14729013" cy="1064851"/>
            <a:chOff x="0" y="0"/>
            <a:chExt cx="3748772" cy="2710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48772" cy="271022"/>
            </a:xfrm>
            <a:custGeom>
              <a:avLst/>
              <a:gdLst/>
              <a:ahLst/>
              <a:cxnLst/>
              <a:rect r="r" b="b" t="t" l="l"/>
              <a:pathLst>
                <a:path h="271022" w="3748772">
                  <a:moveTo>
                    <a:pt x="0" y="0"/>
                  </a:moveTo>
                  <a:lnTo>
                    <a:pt x="3748772" y="0"/>
                  </a:lnTo>
                  <a:lnTo>
                    <a:pt x="3748772" y="271022"/>
                  </a:lnTo>
                  <a:lnTo>
                    <a:pt x="0" y="271022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748772" cy="318647"/>
            </a:xfrm>
            <a:prstGeom prst="rect">
              <a:avLst/>
            </a:prstGeom>
          </p:spPr>
          <p:txBody>
            <a:bodyPr anchor="ctr" rtlCol="false" tIns="52568" lIns="52568" bIns="52568" rIns="52568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42560" y="8595958"/>
            <a:ext cx="16802881" cy="128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SaleCycle의 장바구니 유기 및 리마인드 캠페인 벤치마크 자료를 참고했을 때, 골든타임 내 리마인드 메시지 발송 시 장바구니 전환율이 5%p 이상 상승하는 경향이 확인됩니다. 이를 기반으로 본 실험의 목표치를 장바구니 전환율 5%p 상승으로 설정하였습니다.</a:t>
            </a:r>
          </a:p>
          <a:p>
            <a:pPr algn="ctr">
              <a:lnSpc>
                <a:spcPts val="2585"/>
              </a:lnSpc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 : </a:t>
            </a:r>
            <a:r>
              <a:rPr lang="en-US" sz="1847" spc="153" u="sng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  <a:hlinkClick r:id="rId2" tooltip="https://www.salecycle.com/blog/cart-abandonment-emails-12-best-practice-tips"/>
              </a:rPr>
              <a:t>Cart Abandonment Emails: 12 Best Practice Tips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3612319" y="1743546"/>
            <a:ext cx="7793831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</a:t>
            </a: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 미만 저가 상품 골든타임 (30분) 리마인드 (전환율)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1773316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Test 3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72210" y="4809754"/>
            <a:ext cx="0" cy="3275378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379649"/>
            <a:ext cx="8728981" cy="210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24시간 경과 후 혜택 미제공 (기존 유지)</a:t>
            </a:r>
          </a:p>
          <a:p>
            <a:pPr algn="ctr">
              <a:lnSpc>
                <a:spcPts val="3413"/>
              </a:lnSpc>
            </a:pP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B: 장바구니 방치 24시간 후에 10% 할인 쿠폰 발급 알림</a:t>
            </a:r>
          </a:p>
          <a:p>
            <a:pPr algn="ctr">
              <a:lnSpc>
                <a:spcPts val="3133"/>
              </a:lnSpc>
            </a:pPr>
            <a:r>
              <a:rPr lang="en-US" sz="22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"망설이고 계신 상품, 사용할 수 있는 10% 쿠폰이 도착했어요!")</a:t>
            </a: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78820" y="4733554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A/B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72087" y="5605281"/>
            <a:ext cx="6021644" cy="12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Primary KPI: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6.5$+ 상품 장바구니 결제 전환율</a:t>
            </a:r>
          </a:p>
          <a:p>
            <a:pPr algn="ctr">
              <a:lnSpc>
                <a:spcPts val="3413"/>
              </a:lnSpc>
            </a:pP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Guardrail KPI: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6.5$+ 상품 평균 순 마진율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1896" y="4786096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KPI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1172" y="3163878"/>
            <a:ext cx="1090014" cy="1064851"/>
            <a:chOff x="0" y="0"/>
            <a:chExt cx="311576" cy="3043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576" cy="304383"/>
            </a:xfrm>
            <a:custGeom>
              <a:avLst/>
              <a:gdLst/>
              <a:ahLst/>
              <a:cxnLst/>
              <a:rect r="r" b="b" t="t" l="l"/>
              <a:pathLst>
                <a:path h="304383" w="311576">
                  <a:moveTo>
                    <a:pt x="0" y="0"/>
                  </a:moveTo>
                  <a:lnTo>
                    <a:pt x="311576" y="0"/>
                  </a:lnTo>
                  <a:lnTo>
                    <a:pt x="311576" y="304383"/>
                  </a:lnTo>
                  <a:lnTo>
                    <a:pt x="0" y="304383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11576" cy="352008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5580" y="3443318"/>
            <a:ext cx="641199" cy="4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13117" y="3341503"/>
            <a:ext cx="11038262" cy="317930"/>
            <a:chOff x="0" y="0"/>
            <a:chExt cx="3155242" cy="908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55242" cy="90879"/>
            </a:xfrm>
            <a:custGeom>
              <a:avLst/>
              <a:gdLst/>
              <a:ahLst/>
              <a:cxnLst/>
              <a:rect r="r" b="b" t="t" l="l"/>
              <a:pathLst>
                <a:path h="90879" w="3155242">
                  <a:moveTo>
                    <a:pt x="0" y="0"/>
                  </a:moveTo>
                  <a:lnTo>
                    <a:pt x="3155242" y="0"/>
                  </a:lnTo>
                  <a:lnTo>
                    <a:pt x="3155242" y="90879"/>
                  </a:lnTo>
                  <a:lnTo>
                    <a:pt x="0" y="9087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155242" cy="13850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06911" y="3359938"/>
            <a:ext cx="3186819" cy="354801"/>
            <a:chOff x="0" y="0"/>
            <a:chExt cx="910939" cy="1014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0939" cy="101418"/>
            </a:xfrm>
            <a:custGeom>
              <a:avLst/>
              <a:gdLst/>
              <a:ahLst/>
              <a:cxnLst/>
              <a:rect r="r" b="b" t="t" l="l"/>
              <a:pathLst>
                <a:path h="101418" w="910939">
                  <a:moveTo>
                    <a:pt x="0" y="0"/>
                  </a:moveTo>
                  <a:lnTo>
                    <a:pt x="910939" y="0"/>
                  </a:lnTo>
                  <a:lnTo>
                    <a:pt x="910939" y="101418"/>
                  </a:lnTo>
                  <a:lnTo>
                    <a:pt x="0" y="101418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10939" cy="149043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13117" y="3744620"/>
            <a:ext cx="4335920" cy="295038"/>
            <a:chOff x="0" y="0"/>
            <a:chExt cx="1239405" cy="84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9405" cy="84336"/>
            </a:xfrm>
            <a:custGeom>
              <a:avLst/>
              <a:gdLst/>
              <a:ahLst/>
              <a:cxnLst/>
              <a:rect r="r" b="b" t="t" l="l"/>
              <a:pathLst>
                <a:path h="84336" w="1239405">
                  <a:moveTo>
                    <a:pt x="0" y="0"/>
                  </a:moveTo>
                  <a:lnTo>
                    <a:pt x="1239405" y="0"/>
                  </a:lnTo>
                  <a:lnTo>
                    <a:pt x="1239405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39405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48420" y="3378373"/>
            <a:ext cx="517770" cy="317930"/>
            <a:chOff x="0" y="0"/>
            <a:chExt cx="148002" cy="908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8002" cy="90879"/>
            </a:xfrm>
            <a:custGeom>
              <a:avLst/>
              <a:gdLst/>
              <a:ahLst/>
              <a:cxnLst/>
              <a:rect r="r" b="b" t="t" l="l"/>
              <a:pathLst>
                <a:path h="90879" w="148002">
                  <a:moveTo>
                    <a:pt x="0" y="0"/>
                  </a:moveTo>
                  <a:lnTo>
                    <a:pt x="148002" y="0"/>
                  </a:lnTo>
                  <a:lnTo>
                    <a:pt x="148002" y="90879"/>
                  </a:lnTo>
                  <a:lnTo>
                    <a:pt x="0" y="9087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48002" cy="13850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13117" y="3330748"/>
            <a:ext cx="16035864" cy="6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$+ 상품을 장바구니에 담고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24시간 동안 결제하지 않은 고객 중 '최근 3개월 내 고가 상품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 이력이 없는 유저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</a:t>
            </a:r>
            <a:r>
              <a:rPr lang="en-US" b="true" sz="196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24시간 후 10% 할인 쿠폰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을 발급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하면,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고가 상품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장바구니 결제 전환율이 8%p 이상 상승</a:t>
            </a:r>
            <a:r>
              <a:rPr lang="en-US" sz="1966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것이다.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21481" y="3163878"/>
            <a:ext cx="16354132" cy="1064851"/>
            <a:chOff x="0" y="0"/>
            <a:chExt cx="4162391" cy="2710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2391" cy="271022"/>
            </a:xfrm>
            <a:custGeom>
              <a:avLst/>
              <a:gdLst/>
              <a:ahLst/>
              <a:cxnLst/>
              <a:rect r="r" b="b" t="t" l="l"/>
              <a:pathLst>
                <a:path h="271022" w="4162391">
                  <a:moveTo>
                    <a:pt x="0" y="0"/>
                  </a:moveTo>
                  <a:lnTo>
                    <a:pt x="4162391" y="0"/>
                  </a:lnTo>
                  <a:lnTo>
                    <a:pt x="4162391" y="271022"/>
                  </a:lnTo>
                  <a:lnTo>
                    <a:pt x="0" y="271022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162391" cy="318647"/>
            </a:xfrm>
            <a:prstGeom prst="rect">
              <a:avLst/>
            </a:prstGeom>
          </p:spPr>
          <p:txBody>
            <a:bodyPr anchor="ctr" rtlCol="false" tIns="52568" lIns="52568" bIns="52568" rIns="52568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613117" y="8561382"/>
            <a:ext cx="15837311" cy="128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Sal</a:t>
            </a: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eCycle의 장바구니 유기 및 프로모션(할인 쿠폰) 캠페인 벤치마크 자료를 참고했을 때, 장바구니 방치 고객에게 타겟팅 할인 쿠폰을 발급할 경우 결제 전환율이 8%p 이상 상승하는 경향이 확인됩니다. 이를 기반으로 본 실험의 목표치를 10$+ 상품 장바구니 결제 전환율 8%p 상승으로 설정하였습니다.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 : </a:t>
            </a:r>
            <a:r>
              <a:rPr lang="en-US" sz="1847" spc="153" u="sng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  <a:hlinkClick r:id="rId2" tooltip="https://www.salecycle.com/blog/cart-abandonment-emails-12-best-practice-tips"/>
              </a:rPr>
              <a:t>Cart Abandonment Emails: 12 Best Practice Tips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586572" y="1682984"/>
            <a:ext cx="6161683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</a:t>
            </a: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 이상 고가 상품 결제 장벽 완화 (전환율)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DRAWBACK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아쉬웠던 점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20864" y="3422576"/>
            <a:ext cx="14846272" cy="5835724"/>
            <a:chOff x="0" y="0"/>
            <a:chExt cx="19795029" cy="778096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04540" y="4580201"/>
              <a:ext cx="573091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category_code의 누락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247" y="5235703"/>
              <a:ext cx="1931832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객단가, 전환율 분석 과정에 있어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카테고리 세그먼트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를 나누어 분석하고자 했지만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대부분의 데이터가 누락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되어있어 진행하지 못했습니다.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79292" y="-57150"/>
              <a:ext cx="573091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5개월의 짧은 자료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98352"/>
              <a:ext cx="1979502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수집 기간이 5개월로 짧아 연간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계절성이나 장기적인 트렌드를 반영하는 데 한계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 있었습니다.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Runail의 1월 대비 2월 매출 감소가 계절 요인에 의한 것인지 확인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해 볼 수 있다면 더욱 완성도 있는 프로젝트가 되지 않았을까 싶습니다.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4540" y="6653658"/>
              <a:ext cx="573091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인구통계 미포함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5247" y="7309160"/>
              <a:ext cx="1903664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연령, 성별 등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인구통계학적 데이터의 부재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로 인해 타겟 고객군별 세부 분석을 진행하지 못했습니다.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04540" y="2011444"/>
              <a:ext cx="9900541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근본적 원인 파악을 위한 맥락 데이터의 부재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5247" y="2666946"/>
              <a:ext cx="1903664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매출 하락의 주요 원인으로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객단가, 장바구니 수량 감소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를 도출했으나. 이는 매출 감소의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‘근본적 원인‘이라고 할 수 없습니다. 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프로모션 정책 변경, 경쟁사 할인 행사, UI/UX 변경 등의 원인을 파악하기 위한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마케팅 로그나 외부 환경 데이터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 있었다면 근본적 원인 파악에 도움이 되었을 것 같습니다.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8433" y="-189268"/>
            <a:ext cx="3268199" cy="7739024"/>
            <a:chOff x="0" y="0"/>
            <a:chExt cx="860760" cy="203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60" cy="2038262"/>
            </a:xfrm>
            <a:custGeom>
              <a:avLst/>
              <a:gdLst/>
              <a:ahLst/>
              <a:cxnLst/>
              <a:rect r="r" b="b" t="t" l="l"/>
              <a:pathLst>
                <a:path h="2038262" w="860760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4221" y="7075598"/>
            <a:ext cx="18596442" cy="3324731"/>
            <a:chOff x="0" y="0"/>
            <a:chExt cx="4897828" cy="8756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97829" cy="875649"/>
            </a:xfrm>
            <a:custGeom>
              <a:avLst/>
              <a:gdLst/>
              <a:ahLst/>
              <a:cxnLst/>
              <a:rect r="r" b="b" t="t" l="l"/>
              <a:pathLst>
                <a:path h="875649" w="4897829">
                  <a:moveTo>
                    <a:pt x="0" y="0"/>
                  </a:moveTo>
                  <a:lnTo>
                    <a:pt x="4897829" y="0"/>
                  </a:lnTo>
                  <a:lnTo>
                    <a:pt x="4897829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97828" cy="92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38225" y="8138701"/>
            <a:ext cx="6541" cy="1119543"/>
          </a:xfrm>
          <a:prstGeom prst="line">
            <a:avLst/>
          </a:prstGeom>
          <a:ln cap="flat" w="19050">
            <a:solidFill>
              <a:srgbClr val="F6F6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61845" y="8081551"/>
            <a:ext cx="1432394" cy="42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472" spc="18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1845" y="8832156"/>
            <a:ext cx="1432394" cy="42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472" spc="18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214108"/>
            <a:ext cx="8441160" cy="15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9270" b="true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16926"/>
            <a:ext cx="7056707" cy="15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927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48967"/>
            <a:ext cx="3836759" cy="35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DATA</a:t>
            </a: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DAHQLy1NeX8</dc:identifier>
  <dcterms:modified xsi:type="dcterms:W3CDTF">2011-08-01T06:04:30Z</dcterms:modified>
  <cp:revision>1</cp:revision>
  <dc:title>Project_Runail</dc:title>
</cp:coreProperties>
</file>